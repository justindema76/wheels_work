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651760"/>
            <a:ext cx="320040" cy="1280160"/>
          </a:xfrm>
          <a:prstGeom prst="rect">
            <a:avLst/>
          </a:prstGeom>
          <a:solidFill>
            <a:srgbClr val="D91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B3B6"/>
                </a:solidFill>
                <a:latin typeface="Arial"/>
              </a:rPr>
              <a:t>WHEEL'S AUTOMOTIVE DEALER SUPPLIES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6032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Arial"/>
              </a:rPr>
              <a:t>ACCOUNT SIGN-UP REDESIGN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840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CFCFCF"/>
                </a:solidFill>
                <a:latin typeface="Arial"/>
              </a:rPr>
              <a:t>One email = one account  ·  One business = one company  ·  Anyone can sign 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035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  <a:latin typeface="Arial"/>
              </a:rPr>
              <a:t>October 2026 · For discussion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1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41414"/>
                </a:solidFill>
                <a:latin typeface="Arial"/>
              </a:rPr>
              <a:t>TODAY'S REGISTRATION 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B6B6B"/>
                </a:solidFill>
                <a:latin typeface="Arial"/>
              </a:rPr>
              <a:t>wheelsauto.com → Login / Register → New Account Registration Form</a:t>
            </a:r>
          </a:p>
        </p:txBody>
      </p:sp>
      <p:pic>
        <p:nvPicPr>
          <p:cNvPr id="5" name="Picture 4" descr="tod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8036" y="1463040"/>
            <a:ext cx="5144887" cy="4846320"/>
          </a:xfrm>
          <a:prstGeom prst="rect">
            <a:avLst/>
          </a:prstGeom>
          <a:ln w="9525">
            <a:solidFill>
              <a:srgbClr val="DEDEDE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7498079" y="1554480"/>
            <a:ext cx="4206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500">
                <a:solidFill>
                  <a:srgbClr val="141414"/>
                </a:solidFill>
                <a:latin typeface="Arial"/>
              </a:rPr>
              <a:t>Company first, </a:t>
            </a:r>
            <a:r>
              <a:rPr sz="1500">
                <a:solidFill>
                  <a:srgbClr val="141414"/>
                </a:solidFill>
                <a:latin typeface="Arial"/>
              </a:rPr>
              <a:t>person second</a:t>
            </a:r>
          </a:p>
          <a:p>
            <a:pPr>
              <a:spcAft>
                <a:spcPts val="800"/>
              </a:spcAft>
            </a:pPr>
            <a:r>
              <a:rPr b="1" sz="1500">
                <a:solidFill>
                  <a:srgbClr val="141414"/>
                </a:solidFill>
                <a:latin typeface="Arial"/>
              </a:rPr>
              <a:t>"Add Company Account Administrator" </a:t>
            </a:r>
            <a:r>
              <a:rPr sz="1500">
                <a:solidFill>
                  <a:srgbClr val="141414"/>
                </a:solidFill>
                <a:latin typeface="Arial"/>
              </a:rPr>
              <a:t>is really the person filling it in</a:t>
            </a:r>
          </a:p>
          <a:p>
            <a:pPr>
              <a:spcAft>
                <a:spcPts val="800"/>
              </a:spcAft>
            </a:pPr>
            <a:r>
              <a:rPr b="1" sz="1500">
                <a:solidFill>
                  <a:srgbClr val="141414"/>
                </a:solidFill>
                <a:latin typeface="Arial"/>
              </a:rPr>
              <a:t>Every sign-up </a:t>
            </a:r>
            <a:r>
              <a:rPr sz="1500">
                <a:solidFill>
                  <a:srgbClr val="141414"/>
                </a:solidFill>
                <a:latin typeface="Arial"/>
              </a:rPr>
              <a:t>creates a new company</a:t>
            </a:r>
          </a:p>
          <a:p>
            <a:pPr>
              <a:spcAft>
                <a:spcPts val="800"/>
              </a:spcAft>
            </a:pPr>
            <a:r>
              <a:rPr b="1" sz="1500">
                <a:solidFill>
                  <a:srgbClr val="141414"/>
                </a:solidFill>
                <a:latin typeface="Arial"/>
              </a:rPr>
              <a:t>Email and phone </a:t>
            </a:r>
            <a:r>
              <a:rPr sz="1500">
                <a:solidFill>
                  <a:srgbClr val="141414"/>
                </a:solidFill>
                <a:latin typeface="Arial"/>
              </a:rPr>
              <a:t>asked twice</a:t>
            </a:r>
          </a:p>
          <a:p>
            <a:pPr>
              <a:spcAft>
                <a:spcPts val="800"/>
              </a:spcAft>
            </a:pPr>
            <a:r>
              <a:rPr b="1" sz="1500">
                <a:solidFill>
                  <a:srgbClr val="141414"/>
                </a:solidFill>
                <a:latin typeface="Arial"/>
              </a:rPr>
              <a:t>Jargon: </a:t>
            </a:r>
            <a:r>
              <a:rPr sz="1500">
                <a:solidFill>
                  <a:srgbClr val="141414"/>
                </a:solidFill>
                <a:latin typeface="Arial"/>
              </a:rPr>
              <a:t>Legal Name, VAT/TAX ID, Reseller ID, Pronouns</a:t>
            </a:r>
          </a:p>
          <a:p>
            <a:pPr>
              <a:spcAft>
                <a:spcPts val="800"/>
              </a:spcAft>
            </a:pPr>
            <a:r>
              <a:rPr b="1" sz="1500">
                <a:solidFill>
                  <a:srgbClr val="141414"/>
                </a:solidFill>
                <a:latin typeface="Arial"/>
              </a:rPr>
              <a:t>No password, </a:t>
            </a:r>
            <a:r>
              <a:rPr sz="1500">
                <a:solidFill>
                  <a:srgbClr val="141414"/>
                </a:solidFill>
                <a:latin typeface="Arial"/>
              </a:rPr>
              <a:t>no "what happens next"</a:t>
            </a:r>
          </a:p>
          <a:p>
            <a:pPr>
              <a:spcAft>
                <a:spcPts val="800"/>
              </a:spcAft>
            </a:pPr>
            <a:r>
              <a:rPr b="1" sz="1500">
                <a:solidFill>
                  <a:srgbClr val="141414"/>
                </a:solidFill>
                <a:latin typeface="Arial"/>
              </a:rPr>
              <a:t>The red error </a:t>
            </a:r>
            <a:r>
              <a:rPr sz="1500">
                <a:solidFill>
                  <a:srgbClr val="141414"/>
                </a:solidFill>
                <a:latin typeface="Arial"/>
              </a:rPr>
              <a:t>("email already exists in an associated website") gives no way forward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Arial"/>
              </a:rPr>
              <a:t>Wheel's Automotive Dealer Supplies · Account sign-up redesign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1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41414"/>
                </a:solidFill>
                <a:latin typeface="Arial"/>
              </a:rPr>
              <a:t>WHAT GOES WRONG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54864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800">
                <a:solidFill>
                  <a:srgbClr val="141414"/>
                </a:solidFill>
                <a:latin typeface="Arial"/>
              </a:rPr>
              <a:t>Duplicate companies. </a:t>
            </a:r>
            <a:r>
              <a:rPr sz="1800">
                <a:solidFill>
                  <a:srgbClr val="141414"/>
                </a:solidFill>
                <a:latin typeface="Arial"/>
              </a:rPr>
              <a:t>Three people from one dealership sign up → "Smith Ford", "Smith Ford Inc.", "Smith Ford Ltd". Orders, pricing and discounts split across them.</a:t>
            </a:r>
          </a:p>
          <a:p>
            <a:pPr>
              <a:spcAft>
                <a:spcPts val="1400"/>
              </a:spcAft>
            </a:pPr>
            <a:r>
              <a:rPr b="1" sz="1800">
                <a:solidFill>
                  <a:srgbClr val="141414"/>
                </a:solidFill>
                <a:latin typeface="Arial"/>
              </a:rPr>
              <a:t>No common denominator. </a:t>
            </a:r>
            <a:r>
              <a:rPr sz="1800">
                <a:solidFill>
                  <a:srgbClr val="141414"/>
                </a:solidFill>
                <a:latin typeface="Arial"/>
              </a:rPr>
              <a:t>Nothing ties people to the same business except how they spell the name.</a:t>
            </a:r>
          </a:p>
          <a:p>
            <a:pPr>
              <a:spcAft>
                <a:spcPts val="1400"/>
              </a:spcAft>
            </a:pPr>
            <a:r>
              <a:rPr b="1" sz="1800">
                <a:solidFill>
                  <a:srgbClr val="141414"/>
                </a:solidFill>
                <a:latin typeface="Arial"/>
              </a:rPr>
              <a:t>Not everyone is a dealership. </a:t>
            </a:r>
            <a:r>
              <a:rPr sz="1800">
                <a:solidFill>
                  <a:srgbClr val="141414"/>
                </a:solidFill>
                <a:latin typeface="Arial"/>
              </a:rPr>
              <a:t>Individuals and other businesses (body shops, fleets, agencies) get dealership questions.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371600"/>
            <a:ext cx="53035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800">
                <a:solidFill>
                  <a:srgbClr val="141414"/>
                </a:solidFill>
                <a:latin typeface="Arial"/>
              </a:rPr>
              <a:t>Support calls. </a:t>
            </a:r>
            <a:r>
              <a:rPr sz="1800">
                <a:solidFill>
                  <a:srgbClr val="141414"/>
                </a:solidFill>
                <a:latin typeface="Arial"/>
              </a:rPr>
              <a:t>"Do I have an account?" · "Reset my password" · "I can't get in".</a:t>
            </a:r>
          </a:p>
          <a:p>
            <a:pPr>
              <a:spcAft>
                <a:spcPts val="1400"/>
              </a:spcAft>
            </a:pPr>
            <a:r>
              <a:rPr b="1" sz="1800">
                <a:solidFill>
                  <a:srgbClr val="141414"/>
                </a:solidFill>
                <a:latin typeface="Arial"/>
              </a:rPr>
              <a:t>People get stuck. </a:t>
            </a:r>
            <a:r>
              <a:rPr sz="1800">
                <a:solidFill>
                  <a:srgbClr val="141414"/>
                </a:solidFill>
                <a:latin typeface="Arial"/>
              </a:rPr>
              <a:t>The duplicate-email error gives no Log in or Reset option.</a:t>
            </a:r>
          </a:p>
          <a:p>
            <a:pPr>
              <a:spcAft>
                <a:spcPts val="1400"/>
              </a:spcAft>
            </a:pPr>
            <a:r>
              <a:rPr b="1" sz="1800">
                <a:solidFill>
                  <a:srgbClr val="141414"/>
                </a:solidFill>
                <a:latin typeface="Arial"/>
              </a:rPr>
              <a:t>Hard to finish. </a:t>
            </a:r>
            <a:r>
              <a:rPr sz="1800">
                <a:solidFill>
                  <a:srgbClr val="141414"/>
                </a:solidFill>
                <a:latin typeface="Arial"/>
              </a:rPr>
              <a:t>One long page, company and person mixed, fields repeated.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Arial"/>
              </a:rPr>
              <a:t>Wheel's Automotive Dealer Supplies · Account sign-up redesign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1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41414"/>
                </a:solidFill>
                <a:latin typeface="Arial"/>
              </a:rPr>
              <a:t>GOALS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2651760" cy="3840480"/>
          </a:xfrm>
          <a:prstGeom prst="round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D9161E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83464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41414"/>
                </a:solidFill>
                <a:latin typeface="Arial"/>
              </a:rPr>
              <a:t>One email = one account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840480"/>
            <a:ext cx="2194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B6B6B"/>
                </a:solidFill>
                <a:latin typeface="Arial"/>
              </a:rPr>
              <a:t>Checked first. Already used → Log in or Reset password.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645920"/>
            <a:ext cx="2651760" cy="3840480"/>
          </a:xfrm>
          <a:prstGeom prst="round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192024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D9161E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83464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41414"/>
                </a:solidFill>
                <a:latin typeface="Arial"/>
              </a:rPr>
              <a:t>One business = one company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3840480"/>
            <a:ext cx="2194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B6B6B"/>
                </a:solidFill>
                <a:latin typeface="Arial"/>
              </a:rPr>
              <a:t>Found first by a common denominator. Joined, never retyped.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645920"/>
            <a:ext cx="2651760" cy="3840480"/>
          </a:xfrm>
          <a:prstGeom prst="round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92024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D9161E"/>
                </a:solidFill>
                <a:latin typeface="Arial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83464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41414"/>
                </a:solidFill>
                <a:latin typeface="Arial"/>
              </a:rPr>
              <a:t>Anyone can sign 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840480"/>
            <a:ext cx="2194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B6B6B"/>
                </a:solidFill>
                <a:latin typeface="Arial"/>
              </a:rPr>
              <a:t>Just me · A dealership · Another business. Each gets the right form.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52560" y="1645920"/>
            <a:ext cx="2651760" cy="3840480"/>
          </a:xfrm>
          <a:prstGeom prst="round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0" y="192024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D9161E"/>
                </a:solidFill>
                <a:latin typeface="Arial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0" y="283464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41414"/>
                </a:solidFill>
                <a:latin typeface="Arial"/>
              </a:rPr>
              <a:t>Customers help themselves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3840480"/>
            <a:ext cx="2194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B6B6B"/>
                </a:solidFill>
                <a:latin typeface="Arial"/>
              </a:rPr>
              <a:t>Email check + Forgot password. Staff reset in one click.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Arial"/>
              </a:rPr>
              <a:t>Wheel's Automotive Dealer Supplies · Account sign-up redesign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1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41414"/>
                </a:solidFill>
                <a:latin typeface="Arial"/>
              </a:rPr>
              <a:t>THE NEW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B6B6B"/>
                </a:solidFill>
                <a:latin typeface="Arial"/>
              </a:rPr>
              <a:t>Email → Who it's for → the right form → Done</a:t>
            </a:r>
          </a:p>
        </p:txBody>
      </p:sp>
      <p:pic>
        <p:nvPicPr>
          <p:cNvPr id="5" name="Picture 4" descr="flow-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062" y="1508760"/>
            <a:ext cx="10377395" cy="4800600"/>
          </a:xfrm>
          <a:prstGeom prst="rect">
            <a:avLst/>
          </a:prstGeom>
          <a:ln w="9525">
            <a:solidFill>
              <a:srgbClr val="DEDEDE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Arial"/>
              </a:rPr>
              <a:t>Wheel's Automotive Dealer Supplies · Account sign-up redesign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1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41414"/>
                </a:solidFill>
                <a:latin typeface="Arial"/>
              </a:rPr>
              <a:t>STEP 1 · EMAIL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B6B6B"/>
                </a:solidFill>
                <a:latin typeface="Arial"/>
              </a:rPr>
              <a:t>Everyone starts here. Already used → Log in / Reset my password.</a:t>
            </a:r>
          </a:p>
        </p:txBody>
      </p:sp>
      <p:pic>
        <p:nvPicPr>
          <p:cNvPr id="5" name="Picture 4" descr="s1-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08760"/>
            <a:ext cx="11064240" cy="3890474"/>
          </a:xfrm>
          <a:prstGeom prst="rect">
            <a:avLst/>
          </a:prstGeom>
          <a:ln w="9525">
            <a:solidFill>
              <a:srgbClr val="DEDEDE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Arial"/>
              </a:rPr>
              <a:t>Wheel's Automotive Dealer Supplies · Account sign-up redesign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1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41414"/>
                </a:solidFill>
                <a:latin typeface="Arial"/>
              </a:rPr>
              <a:t>STEP 2 · WHO IS THIS ACCOUNT FOR?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B6B6B"/>
                </a:solidFill>
                <a:latin typeface="Arial"/>
              </a:rPr>
              <a:t>Just me · A dealership · Another business</a:t>
            </a:r>
          </a:p>
        </p:txBody>
      </p:sp>
      <p:pic>
        <p:nvPicPr>
          <p:cNvPr id="5" name="Picture 4" descr="s2-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880" y="1508760"/>
            <a:ext cx="9735759" cy="4800600"/>
          </a:xfrm>
          <a:prstGeom prst="rect">
            <a:avLst/>
          </a:prstGeom>
          <a:ln w="9525">
            <a:solidFill>
              <a:srgbClr val="DEDEDE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Arial"/>
              </a:rPr>
              <a:t>Wheel's Automotive Dealer Supplies · Account sign-up redesign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1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41414"/>
                </a:solidFill>
                <a:latin typeface="Arial"/>
              </a:rPr>
              <a:t>STEP 3 · JUST 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B6B6B"/>
                </a:solidFill>
                <a:latin typeface="Arial"/>
              </a:rPr>
              <a:t>Name, phone, address. No company questions.</a:t>
            </a:r>
          </a:p>
        </p:txBody>
      </p:sp>
      <p:pic>
        <p:nvPicPr>
          <p:cNvPr id="5" name="Picture 4" descr="me-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3501" y="1508760"/>
            <a:ext cx="7594518" cy="4800600"/>
          </a:xfrm>
          <a:prstGeom prst="rect">
            <a:avLst/>
          </a:prstGeom>
          <a:ln w="9525">
            <a:solidFill>
              <a:srgbClr val="DEDEDE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Arial"/>
              </a:rPr>
              <a:t>Wheel's Automotive Dealer Supplies · Account sign-up redesign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1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41414"/>
                </a:solidFill>
                <a:latin typeface="Arial"/>
              </a:rPr>
              <a:t>STEP 3 · A DEALERSHIP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B6B6B"/>
                </a:solidFill>
                <a:latin typeface="Arial"/>
              </a:rPr>
              <a:t>Find by business phone (or OEM dealer ID). Found → join. Not found → register once.</a:t>
            </a:r>
          </a:p>
        </p:txBody>
      </p:sp>
      <p:pic>
        <p:nvPicPr>
          <p:cNvPr id="5" name="Picture 4" descr="dealer-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7601" y="1508760"/>
            <a:ext cx="5586317" cy="4800600"/>
          </a:xfrm>
          <a:prstGeom prst="rect">
            <a:avLst/>
          </a:prstGeom>
          <a:ln w="9525">
            <a:solidFill>
              <a:srgbClr val="DEDEDE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Arial"/>
              </a:rPr>
              <a:t>Wheel's Automotive Dealer Supplies · Account sign-up redesign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1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41414"/>
                </a:solidFill>
                <a:latin typeface="Arial"/>
              </a:rPr>
              <a:t>STEP 3 · ANOTHER BUSINESS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B6B6B"/>
                </a:solidFill>
                <a:latin typeface="Arial"/>
              </a:rPr>
              <a:t>Same find-first step. Business type instead of OEM questions.</a:t>
            </a:r>
          </a:p>
        </p:txBody>
      </p:sp>
      <p:pic>
        <p:nvPicPr>
          <p:cNvPr id="5" name="Picture 4" descr="biz-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4436" y="1508760"/>
            <a:ext cx="8172647" cy="4800600"/>
          </a:xfrm>
          <a:prstGeom prst="rect">
            <a:avLst/>
          </a:prstGeom>
          <a:ln w="9525">
            <a:solidFill>
              <a:srgbClr val="DEDEDE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Arial"/>
              </a:rPr>
              <a:t>Wheel's Automotive Dealer Supplies · Account sign-up redesign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1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41414"/>
                </a:solidFill>
                <a:latin typeface="Arial"/>
              </a:rPr>
              <a:t>STEP 4 · DONE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B6B6B"/>
                </a:solidFill>
                <a:latin typeface="Arial"/>
              </a:rPr>
              <a:t>Clear next step: check your email to set your password.</a:t>
            </a:r>
          </a:p>
        </p:txBody>
      </p:sp>
      <p:pic>
        <p:nvPicPr>
          <p:cNvPr id="5" name="Picture 4" descr="done-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08760"/>
            <a:ext cx="11064240" cy="3085393"/>
          </a:xfrm>
          <a:prstGeom prst="rect">
            <a:avLst/>
          </a:prstGeom>
          <a:ln w="9525">
            <a:solidFill>
              <a:srgbClr val="DEDEDE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Arial"/>
              </a:rPr>
              <a:t>Wheel's Automotive Dealer Supplies · Account sign-up redesign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1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41414"/>
                </a:solidFill>
                <a:latin typeface="Arial"/>
              </a:rPr>
              <a:t>LOG IN &amp; FORGOT PASSWORD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B6B6B"/>
                </a:solidFill>
                <a:latin typeface="Arial"/>
              </a:rPr>
              <a:t>Customers reset it themselves. Staff: Magento admin → Customers → Reset Password.</a:t>
            </a:r>
          </a:p>
        </p:txBody>
      </p:sp>
      <p:pic>
        <p:nvPicPr>
          <p:cNvPr id="5" name="Picture 4" descr="login-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08760"/>
            <a:ext cx="11064240" cy="3921958"/>
          </a:xfrm>
          <a:prstGeom prst="rect">
            <a:avLst/>
          </a:prstGeom>
          <a:ln w="9525">
            <a:solidFill>
              <a:srgbClr val="DEDEDE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Arial"/>
              </a:rPr>
              <a:t>Wheel's Automotive Dealer Supplies · Account sign-up redesign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1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41414"/>
                </a:solidFill>
                <a:latin typeface="Arial"/>
              </a:rPr>
              <a:t>COMPANY USERS &amp; INVITES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B6B6B"/>
                </a:solidFill>
                <a:latin typeface="Arial"/>
              </a:rPr>
              <a:t>The main contact sees everyone and can invite teammates by email.</a:t>
            </a:r>
          </a:p>
        </p:txBody>
      </p:sp>
      <p:pic>
        <p:nvPicPr>
          <p:cNvPr id="5" name="Picture 4" descr="team-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136" y="1508760"/>
            <a:ext cx="10765247" cy="4800600"/>
          </a:xfrm>
          <a:prstGeom prst="rect">
            <a:avLst/>
          </a:prstGeom>
          <a:ln w="9525">
            <a:solidFill>
              <a:srgbClr val="DEDEDE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Arial"/>
              </a:rPr>
              <a:t>Wheel's Automotive Dealer Supplies · Account sign-up redesign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1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41414"/>
                </a:solidFill>
                <a:latin typeface="Arial"/>
              </a:rPr>
              <a:t>THE COMMON DENOMINATOR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B6B6B"/>
                </a:solidFill>
                <a:latin typeface="Arial"/>
              </a:rPr>
              <a:t>How the system knows two people work at the same business. To decide in the meeting.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645920"/>
          <a:ext cx="11064239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4023360"/>
                <a:gridCol w="3749039"/>
              </a:tblGrid>
              <a:tr h="65836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Option</a:t>
                      </a:r>
                    </a:p>
                  </a:txBody>
                  <a:tcPr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Good</a:t>
                      </a:r>
                    </a:p>
                  </a:txBody>
                  <a:tcPr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Watch out</a:t>
                      </a:r>
                    </a:p>
                  </a:txBody>
                  <a:tcPr>
                    <a:solidFill>
                      <a:srgbClr val="141414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41414"/>
                          </a:solidFill>
                          <a:latin typeface="Arial"/>
                        </a:rPr>
                        <a:t>Business phone number (proposed)</a:t>
                      </a:r>
                    </a:p>
                  </a:txBody>
                  <a:tcPr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1414"/>
                          </a:solidFill>
                          <a:latin typeface="Arial"/>
                        </a:rPr>
                        <a:t>Every business has one; doesn't depend on spelling</a:t>
                      </a:r>
                    </a:p>
                  </a:txBody>
                  <a:tcPr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1414"/>
                          </a:solidFill>
                          <a:latin typeface="Arial"/>
                        </a:rPr>
                        <a:t>Must be stored in one format (digits only)</a:t>
                      </a:r>
                    </a:p>
                  </a:txBody>
                  <a:tcPr>
                    <a:solidFill>
                      <a:srgbClr val="FFF5F5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41414"/>
                          </a:solidFill>
                          <a:latin typeface="Arial"/>
                        </a:rPr>
                        <a:t>OEM dealer 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1414"/>
                          </a:solidFill>
                          <a:latin typeface="Arial"/>
                        </a:rPr>
                        <a:t>Exact match for franchised dealerships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1414"/>
                          </a:solidFill>
                          <a:latin typeface="Arial"/>
                        </a:rPr>
                        <a:t>Only dealerships have 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41414"/>
                          </a:solidFill>
                          <a:latin typeface="Arial"/>
                        </a:rPr>
                        <a:t>Email domain (@smithford.ca)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1414"/>
                          </a:solidFill>
                          <a:latin typeface="Arial"/>
                        </a:rPr>
                        <a:t>Automatic, nothing extra to type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1414"/>
                          </a:solidFill>
                          <a:latin typeface="Arial"/>
                        </a:rPr>
                        <a:t>Gmail/Hotmail users; groups share domains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41414"/>
                          </a:solidFill>
                          <a:latin typeface="Arial"/>
                        </a:rPr>
                        <a:t>Name + postal code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1414"/>
                          </a:solidFill>
                          <a:latin typeface="Arial"/>
                        </a:rPr>
                        <a:t>Works for anyone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1414"/>
                          </a:solidFill>
                          <a:latin typeface="Arial"/>
                        </a:rPr>
                        <a:t>Spelling differences → still duplicates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3035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D9161E"/>
                </a:solidFill>
                <a:latin typeface="Arial"/>
              </a:rPr>
              <a:t>Recommendation: business phone number for everyone, plus OEM dealer ID for dealerships. Name spelling never decides a match.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Arial"/>
              </a:rPr>
              <a:t>Wheel's Automotive Dealer Supplies · Account sign-up redesign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1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41414"/>
                </a:solidFill>
                <a:latin typeface="Arial"/>
              </a:rPr>
              <a:t>WHAT NEEDS TO BE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B6B6B"/>
                </a:solidFill>
                <a:latin typeface="Arial"/>
              </a:rPr>
              <a:t>For the developer (Hafiz)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54864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600">
                <a:solidFill>
                  <a:srgbClr val="141414"/>
                </a:solidFill>
                <a:latin typeface="Arial"/>
              </a:rPr>
              <a:t>Email check first: </a:t>
            </a:r>
            <a:r>
              <a:rPr sz="1600">
                <a:solidFill>
                  <a:srgbClr val="141414"/>
                </a:solidFill>
                <a:latin typeface="Arial"/>
              </a:rPr>
              <a:t>tell the person if the email already has an account; offer Log in / Reset.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141414"/>
                </a:solidFill>
                <a:latin typeface="Arial"/>
              </a:rPr>
              <a:t>"Who is this for?" step </a:t>
            </a:r>
            <a:r>
              <a:rPr sz="1600">
                <a:solidFill>
                  <a:srgbClr val="141414"/>
                </a:solidFill>
                <a:latin typeface="Arial"/>
              </a:rPr>
              <a:t>that routes to Just me / Dealership / Other business forms.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141414"/>
                </a:solidFill>
                <a:latin typeface="Arial"/>
              </a:rPr>
              <a:t>Business search </a:t>
            </a:r>
            <a:r>
              <a:rPr sz="1600">
                <a:solidFill>
                  <a:srgbClr val="141414"/>
                </a:solidFill>
                <a:latin typeface="Arial"/>
              </a:rPr>
              <a:t>by the common denominator (phone, dealer ID); show only name + city.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141414"/>
                </a:solidFill>
                <a:latin typeface="Arial"/>
              </a:rPr>
              <a:t>Join existing company: </a:t>
            </a:r>
            <a:r>
              <a:rPr sz="1600">
                <a:solidFill>
                  <a:srgbClr val="141414"/>
                </a:solidFill>
                <a:latin typeface="Arial"/>
              </a:rPr>
              <a:t>attach the new person to the found company, no approval; email the main contact.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463040"/>
            <a:ext cx="53035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600">
                <a:solidFill>
                  <a:srgbClr val="141414"/>
                </a:solidFill>
                <a:latin typeface="Arial"/>
              </a:rPr>
              <a:t>Register a new company once; </a:t>
            </a:r>
            <a:r>
              <a:rPr sz="1600">
                <a:solidFill>
                  <a:srgbClr val="141414"/>
                </a:solidFill>
                <a:latin typeface="Arial"/>
              </a:rPr>
              <a:t>the person becomes the main contact.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141414"/>
                </a:solidFill>
                <a:latin typeface="Arial"/>
              </a:rPr>
              <a:t>Invite a teammate </a:t>
            </a:r>
            <a:r>
              <a:rPr sz="1600">
                <a:solidFill>
                  <a:srgbClr val="141414"/>
                </a:solidFill>
                <a:latin typeface="Arial"/>
              </a:rPr>
              <a:t>from My Account → Company Users.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141414"/>
                </a:solidFill>
                <a:latin typeface="Arial"/>
              </a:rPr>
              <a:t>Clean up the form: </a:t>
            </a:r>
            <a:r>
              <a:rPr sz="1600">
                <a:solidFill>
                  <a:srgbClr val="141414"/>
                </a:solidFill>
                <a:latin typeface="Arial"/>
              </a:rPr>
              <a:t>no repeated fields, no pronouns, plain labels (GST/HST), tax section optional.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141414"/>
                </a:solidFill>
                <a:latin typeface="Arial"/>
              </a:rPr>
              <a:t>Clear done message: </a:t>
            </a:r>
            <a:r>
              <a:rPr sz="1600">
                <a:solidFill>
                  <a:srgbClr val="141414"/>
                </a:solidFill>
                <a:latin typeface="Arial"/>
              </a:rPr>
              <a:t>"Check your email to set your password."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141414"/>
                </a:solidFill>
                <a:latin typeface="Arial"/>
              </a:rPr>
              <a:t>Merge existing duplicate companies </a:t>
            </a:r>
            <a:r>
              <a:rPr sz="1600">
                <a:solidFill>
                  <a:srgbClr val="141414"/>
                </a:solidFill>
                <a:latin typeface="Arial"/>
              </a:rPr>
              <a:t>(one-time clean-up).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Arial"/>
              </a:rPr>
              <a:t>Wheel's Automotive Dealer Supplies · Account sign-up redesign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1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41414"/>
                </a:solidFill>
                <a:latin typeface="Arial"/>
              </a:rPr>
              <a:t>DECISIONS FOR THE MEETING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2000">
                <a:solidFill>
                  <a:srgbClr val="141414"/>
                </a:solidFill>
                <a:latin typeface="Arial"/>
              </a:rPr>
              <a:t>1. Common denominator: </a:t>
            </a:r>
            <a:r>
              <a:rPr sz="2000">
                <a:solidFill>
                  <a:srgbClr val="141414"/>
                </a:solidFill>
                <a:latin typeface="Arial"/>
              </a:rPr>
              <a:t>business phone number? plus OEM dealer ID for dealerships?</a:t>
            </a:r>
          </a:p>
          <a:p>
            <a:pPr>
              <a:spcAft>
                <a:spcPts val="1400"/>
              </a:spcAft>
            </a:pPr>
            <a:r>
              <a:rPr b="1" sz="2000">
                <a:solidFill>
                  <a:srgbClr val="141414"/>
                </a:solidFill>
                <a:latin typeface="Arial"/>
              </a:rPr>
              <a:t>2. Joining: </a:t>
            </a:r>
            <a:r>
              <a:rPr sz="2000">
                <a:solidFill>
                  <a:srgbClr val="141414"/>
                </a:solidFill>
                <a:latin typeface="Arial"/>
              </a:rPr>
              <a:t>instant (no approval), with an email to the main contact. Agreed?</a:t>
            </a:r>
          </a:p>
          <a:p>
            <a:pPr>
              <a:spcAft>
                <a:spcPts val="1400"/>
              </a:spcAft>
            </a:pPr>
            <a:r>
              <a:rPr b="1" sz="2000">
                <a:solidFill>
                  <a:srgbClr val="141414"/>
                </a:solidFill>
                <a:latin typeface="Arial"/>
              </a:rPr>
              <a:t>3. New joiners' role: </a:t>
            </a:r>
            <a:r>
              <a:rPr sz="2000">
                <a:solidFill>
                  <a:srgbClr val="141414"/>
                </a:solidFill>
                <a:latin typeface="Arial"/>
              </a:rPr>
              <a:t>Buyer by default; main contact can change it?</a:t>
            </a:r>
          </a:p>
          <a:p>
            <a:pPr>
              <a:spcAft>
                <a:spcPts val="1400"/>
              </a:spcAft>
            </a:pPr>
            <a:r>
              <a:rPr b="1" sz="2000">
                <a:solidFill>
                  <a:srgbClr val="141414"/>
                </a:solidFill>
                <a:latin typeface="Arial"/>
              </a:rPr>
              <a:t>4. Business types list </a:t>
            </a:r>
            <a:r>
              <a:rPr sz="2000">
                <a:solidFill>
                  <a:srgbClr val="141414"/>
                </a:solidFill>
                <a:latin typeface="Arial"/>
              </a:rPr>
              <a:t>for "Another business".</a:t>
            </a:r>
          </a:p>
          <a:p>
            <a:pPr>
              <a:spcAft>
                <a:spcPts val="1400"/>
              </a:spcAft>
            </a:pPr>
            <a:r>
              <a:rPr b="1" sz="2000">
                <a:solidFill>
                  <a:srgbClr val="141414"/>
                </a:solidFill>
                <a:latin typeface="Arial"/>
              </a:rPr>
              <a:t>5. Required vs optional fields </a:t>
            </a:r>
            <a:r>
              <a:rPr sz="2000">
                <a:solidFill>
                  <a:srgbClr val="141414"/>
                </a:solidFill>
                <a:latin typeface="Arial"/>
              </a:rPr>
              <a:t>(tax, website, job title).</a:t>
            </a:r>
          </a:p>
          <a:p>
            <a:pPr>
              <a:spcAft>
                <a:spcPts val="1400"/>
              </a:spcAft>
            </a:pPr>
            <a:r>
              <a:rPr b="1" sz="2000">
                <a:solidFill>
                  <a:srgbClr val="141414"/>
                </a:solidFill>
                <a:latin typeface="Arial"/>
              </a:rPr>
              <a:t>6. Existing duplicates: </a:t>
            </a:r>
            <a:r>
              <a:rPr sz="2000">
                <a:solidFill>
                  <a:srgbClr val="141414"/>
                </a:solidFill>
                <a:latin typeface="Arial"/>
              </a:rPr>
              <a:t>who reviews and merges them?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Arial"/>
              </a:rPr>
              <a:t>Wheel's Automotive Dealer Supplies · Account sign-up redesign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